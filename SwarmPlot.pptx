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piration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 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8CE17E-5AD2-4378-BE28-4868B1CB3F8B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2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3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0000" y="627480"/>
            <a:ext cx="863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4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5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A3B990-01C2-4D23-92BD-89AF627A22B4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6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ftr" idx="7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8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54FA64-D5BA-4862-AE4C-1634353089D5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9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ftr" idx="10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1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120207-4535-44FA-B96F-F3B14F8E7E30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2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ftr" idx="13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4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71D383-0C0D-425B-B8EE-828732525567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5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ftr" idx="16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05E5BB-F400-4783-B2B8-B8320395E183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18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16200000">
            <a:off x="43920" y="540000"/>
            <a:ext cx="853920" cy="71892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7640280" y="100800"/>
            <a:ext cx="1200240" cy="36972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270000" y="180000"/>
            <a:ext cx="9538920" cy="4858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eeeeee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7969320" y="162360"/>
            <a:ext cx="904320" cy="114264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270000" y="471600"/>
            <a:ext cx="8930520" cy="62892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111600" y="471600"/>
            <a:ext cx="247320" cy="62892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7969320" y="100800"/>
            <a:ext cx="903600" cy="7812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ftr" idx="19"/>
          </p:nvPr>
        </p:nvSpPr>
        <p:spPr>
          <a:xfrm>
            <a:off x="3447360" y="516492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0"/>
          </p:nvPr>
        </p:nvSpPr>
        <p:spPr>
          <a:xfrm>
            <a:off x="7227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EBFEC9-DB0A-4B9D-A5F3-C79BFAC0084C}" type="slidenum">
              <a:rPr b="0" lang="en-IN" sz="1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21"/>
          </p:nvPr>
        </p:nvSpPr>
        <p:spPr>
          <a:xfrm>
            <a:off x="504000" y="5164920"/>
            <a:ext cx="234720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0000" y="448920"/>
            <a:ext cx="8638920" cy="63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IN" sz="2700" strike="noStrike" u="sng">
                <a:solidFill>
                  <a:srgbClr val="bf0041"/>
                </a:solidFill>
                <a:effectLst/>
                <a:uFillTx/>
                <a:latin typeface="Times New Roman"/>
              </a:rPr>
              <a:t>Swarm Plot</a:t>
            </a:r>
            <a:endParaRPr b="0" lang="en-IN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540000" y="1348920"/>
            <a:ext cx="8998920" cy="360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IN" sz="3200" strike="noStrike" u="none">
                <a:solidFill>
                  <a:srgbClr val="bf0041"/>
                </a:solidFill>
                <a:effectLst/>
                <a:uFillTx/>
                <a:latin typeface="Times New Roman"/>
              </a:rPr>
              <a:t>Graph assignment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IN" sz="32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By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                            </a:t>
            </a:r>
            <a:r>
              <a:rPr b="1" i="1" lang="en-IN" sz="3200" strike="noStrike" u="none">
                <a:solidFill>
                  <a:srgbClr val="bf0041"/>
                </a:solidFill>
                <a:effectLst/>
                <a:uFillTx/>
                <a:latin typeface="Times New Roman"/>
              </a:rPr>
              <a:t>MuthuKumaranM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535320" y="450000"/>
            <a:ext cx="8638920" cy="62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IN" sz="27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810000" y="2509560"/>
            <a:ext cx="8511120" cy="207648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Why Swarm Plot is Important in Seaborn (Easy Explanation)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 Swarm Plot in Seaborn is used to visualize the distribution of data points while avoiding overlap. It is very useful in exploratory data analysis (EDA)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is a Swarm Plot?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 swarm plot displays all individual data points for a variable, spread out along a categorical axis so that no two points overlap.It is an improved version of a strip plot.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360000" y="1258920"/>
            <a:ext cx="8638920" cy="401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1 Shows Actual Data Points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Unlike boxplots or violin plots, swarm plots show every single observation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Helps understand true data distribution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2️ Avoids Overlapping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Automatically adjusts points so they don’t overlap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Makes dense data clearly visible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3️ Best for Small to Medium Datasets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Ideal when you want to see all values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Perfect for academic &amp; project analysis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4. Great for Comparing Categories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Useful in bivariate analysis Example: salary vs specialisation, marks vs placement statu</a:t>
            </a:r>
            <a:r>
              <a:rPr b="1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5.Detects Outliers Clearly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Outliers stand out visually easier than boxplots in some cases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360000" y="1217160"/>
            <a:ext cx="863892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i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Code to make swarmPlot: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import seaborn as sns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import matplotlib.pyplot as plt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sns.swarmplot(x='specialisation', y='salary', data=dataset)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plt.show()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ubTitle"/>
          </p:nvPr>
        </p:nvSpPr>
        <p:spPr>
          <a:xfrm>
            <a:off x="360000" y="1258920"/>
            <a:ext cx="863892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369800" y="1744920"/>
            <a:ext cx="7629120" cy="243576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1544400" y="1157760"/>
            <a:ext cx="6914520" cy="370116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128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rgbClr val="ff4000"/>
                </a:solidFill>
                <a:effectLst/>
                <a:uFillTx/>
                <a:latin typeface="Times New Roman"/>
              </a:rPr>
              <a:t>Information In Violin Plot 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298440" y="1240920"/>
            <a:ext cx="9071280" cy="504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Most salaries for all groups are concentrated between ₹200,000 and ₹300,000.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Mkt&amp;Fin shows a wider salary spread compared to Mkt&amp;HR.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Mkt&amp;HR salaries are more consistent and compact.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Median salary of Mkt&amp;Fin students is higher than Mkt&amp;HR.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In both specialisations: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Male median salary is slightly higher than female.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Difference is small and overlapping.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Mkt&amp;Fin (Male) has the highest variability in salary.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Female salaries in both specialisations show less variation.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One or two very high salary outliers (around ₹1,000,000) exist in Mkt&amp;Fin (Male).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These outliers stretch the violin upward but do not affect most observations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Wider sections of the violin indicate more students at that salary range.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Narrow ends indicate fewer students.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Mkt&amp;Fin → higher salary potential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Mkt&amp;HR → more stable salaries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Males show slightly higher salary spread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Extreme high salaries are rare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IN" sz="2400" strike="noStrike" u="sng">
                <a:solidFill>
                  <a:srgbClr val="ff0000"/>
                </a:solidFill>
                <a:effectLst/>
                <a:uFillTx/>
                <a:latin typeface="Times New Roman"/>
              </a:rPr>
              <a:t>Boxplot</a:t>
            </a:r>
            <a:endParaRPr b="0" lang="en-IN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Variables Compared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Y-axis: ssc_p (Secondary School Percentage)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X-axis: ssc_b (Board type)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Others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Central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Grouping: Gender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 (Male)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 (Female)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Spread (Interquartile Range – IQR)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Others board has a wider IQR, meaning more variation in scores.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Central board scores are more tightly clustered, showing consistency.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Male scores show slightly more variability than females.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071280" cy="470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Maximum ssc_p values for all groups reach around 88–90%.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Minimum values: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Others (Male): around 49%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Others (Female): around 45%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Central (Male): around 41%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Central (Female): around 43%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Central Tendency (Median Line)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Female students consistently have a higher median SSC percentage than males in both board types.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The highest median is observed for Females from “Others” board.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Central board males show the lowest median among all four groups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Performance Distribution (IQR – Box Width)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Others board: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Shows larger IQR, meaning student performance varies more.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Indicates presence of both average and high scorers.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Central board: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Narrower IQR suggests more uniform academic performance.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Females have a slightly tighter IQR than males → more consistent results.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360000" y="1154880"/>
            <a:ext cx="9071280" cy="456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Score Extremes: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Upper whiskers: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Reach close to 90% for all groups → top performers exist across boards and genders.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Lower whiskers: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Central board shows lower minimum scores than Others board.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Indicates higher risk of low performance in Central board students.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Outlier Behavior: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A single low-end outlier appears for Others board – Female, indicating: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One female student scored significantly lower than peers.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No extreme high outliers → top scores are stable and not anomalies.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Gender Gap Insights (from Graph Only)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Gender-based gap is more visible in Others board.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In Central board, male and female medians are closer, indicating reduced gender difference.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Overall Visual Pattern: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Board type influences performance more strongly than gender.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Others board dominates in terms of: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Higher medians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Higher maximum scores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Central board emphasizes consistency over peak performance.</a:t>
            </a: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1" i="1" lang="en-IN" sz="2800" strike="noStrike" u="none">
                <a:solidFill>
                  <a:srgbClr val="5eb91e"/>
                </a:solidFill>
                <a:effectLst/>
                <a:uFillTx/>
                <a:latin typeface="Times New Roman"/>
              </a:rPr>
              <a:t>Thank you</a:t>
            </a:r>
            <a:endParaRPr b="1" i="1" lang="en-IN" sz="2800" strike="noStrike" u="none">
              <a:solidFill>
                <a:srgbClr val="5eb91e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2026-01-04T13:59:36Z</dcterms:created>
  <dc:creator/>
  <dc:description>This work is licensed under a Creative Commons 0 License.
It makes use of the works of Mateus Machado Luna.</dc:description>
  <dc:language>en-IN</dc:language>
  <cp:lastModifiedBy/>
  <dcterms:modified xsi:type="dcterms:W3CDTF">2026-01-05T12:52:04Z</dcterms:modified>
  <cp:revision>6</cp:revision>
  <dc:subject/>
  <dc:title>Inspiration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